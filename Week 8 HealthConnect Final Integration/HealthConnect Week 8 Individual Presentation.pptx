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B18A-B254-4151-A453-1FFBE7A16D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F3815-94FD-4382-8EDA-188E651871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07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F3815-94FD-4382-8EDA-188E651871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8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6"/>
                </a:solidFill>
                <a:latin typeface="Aptos Display"/>
              </a:defRPr>
            </a:pPr>
            <a:r>
              <a:t>HealthConnect Clinic Experience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8080"/>
                </a:solidFill>
                <a:latin typeface="Aptos Display"/>
              </a:defRPr>
            </a:pPr>
            <a:r>
              <a:t>Week 8 Final Analytics &amp; Decision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063240"/>
            <a:ext cx="301752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303A"/>
                </a:solidFill>
                <a:latin typeface="Aptos"/>
              </a:defRPr>
            </a:pPr>
            <a:r>
              <a:t>Rachel Nuhu Birma  |  Data Analytics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977639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A76"/>
                </a:solidFill>
                <a:latin typeface="Aptos"/>
              </a:defRPr>
            </a:pPr>
            <a:r>
              <a:t>Final Integration, Presentation &amp; Project Showcase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4251960"/>
            <a:ext cx="123444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32520" y="4251960"/>
            <a:ext cx="64008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443484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6"/>
                </a:solidFill>
                <a:latin typeface="Aptos Display"/>
              </a:defRPr>
            </a:pPr>
            <a:r>
              <a:t>5–7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5001768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4251960"/>
            <a:ext cx="123444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0" y="4251960"/>
            <a:ext cx="64008" cy="105156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87000" y="443484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6"/>
                </a:solidFill>
                <a:latin typeface="Aptos Display"/>
              </a:defRPr>
            </a:pPr>
            <a:r>
              <a:t>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5001768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Appointments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What HealthConnect is trying to improve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10312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6"/>
                </a:solidFill>
                <a:latin typeface="Aptos Display"/>
              </a:defRPr>
            </a:pPr>
            <a:r>
              <a:t>48.46%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overall no-show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828800"/>
            <a:ext cx="210312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63240" y="1828800"/>
            <a:ext cx="64008" cy="13258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20116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6"/>
                </a:solidFill>
                <a:latin typeface="Aptos Display"/>
              </a:defRPr>
            </a:pPr>
            <a:r>
              <a:t>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78608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appointments analysed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10698480" cy="16916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730752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Reduce missed appointments and improve attendance.</a:t>
            </a:r>
          </a:p>
          <a:p>
            <a:pPr>
              <a:spcAft>
                <a:spcPts val="12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Use appointment slots more effectively.</a:t>
            </a:r>
          </a:p>
          <a:p>
            <a:pPr>
              <a:spcAft>
                <a:spcPts val="12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Provide better administrative support using evidence from the data.</a:t>
            </a:r>
          </a:p>
          <a:p>
            <a:pPr>
              <a:spcAft>
                <a:spcPts val="12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My role was to turn appointment data into validated decision-support insights.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MY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My Data Analytics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From analysis to a validated decision-support output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783080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64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8303A"/>
                </a:solidFill>
                <a:latin typeface="Aptos"/>
              </a:defRPr>
            </a:pPr>
            <a:r>
              <a:t>Validated key KPIs and dashboard figures.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606040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2432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8775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8303A"/>
                </a:solidFill>
                <a:latin typeface="Aptos"/>
              </a:defRPr>
            </a:pPr>
            <a:r>
              <a:t>Analysed booking lead time, previous no-show history, appointment type and reminder status.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429000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4728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1071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8303A"/>
                </a:solidFill>
                <a:latin typeface="Aptos"/>
              </a:defRPr>
            </a:pPr>
            <a:r>
              <a:t>Built and refined Power BI decision-support visuals.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251960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7024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3367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8303A"/>
                </a:solidFill>
                <a:latin typeface="Aptos"/>
              </a:defRPr>
            </a:pPr>
            <a:r>
              <a:t>Tested dashboard filters and combined booking lead time with reminder status.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074920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093207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5663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8303A"/>
                </a:solidFill>
                <a:latin typeface="Aptos"/>
              </a:defRPr>
            </a:pPr>
            <a:r>
              <a:t>Used Excel for validation and Power BI for the final dashboard presentation.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FINAL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Final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Validated figures carried into the final analytics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231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6"/>
                </a:solidFill>
                <a:latin typeface="Aptos Display"/>
              </a:defRPr>
            </a:pPr>
            <a:r>
              <a:t>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Total appointments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4231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64008" cy="141732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0116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D46"/>
                </a:solidFill>
                <a:latin typeface="Aptos Display"/>
              </a:defRPr>
            </a:pPr>
            <a:r>
              <a:t>48.46%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786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Overall no-show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828800"/>
            <a:ext cx="24231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64008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0116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D46"/>
                </a:solidFill>
                <a:latin typeface="Aptos Display"/>
              </a:defRPr>
            </a:pPr>
            <a:r>
              <a:t>34.53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5786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Avg. lead time — no-shows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828800"/>
            <a:ext cx="24231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1828800"/>
            <a:ext cx="64008" cy="141732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20116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6"/>
                </a:solidFill>
                <a:latin typeface="Aptos Display"/>
              </a:defRPr>
            </a:pPr>
            <a:r>
              <a:t>49.86%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57860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No-show rate —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2D46"/>
                </a:solidFill>
                <a:latin typeface="Aptos Display"/>
              </a:defRPr>
            </a:pPr>
            <a:r>
              <a:t>Reminder comparison</a:t>
            </a:r>
          </a:p>
          <a:p>
            <a:pPr>
              <a:defRPr sz="2300" b="1">
                <a:solidFill>
                  <a:srgbClr val="008080"/>
                </a:solidFill>
                <a:latin typeface="Aptos"/>
              </a:defRPr>
            </a:pPr>
            <a:r>
              <a:t>54.63% without reminder  →  49.86% with reminder</a:t>
            </a:r>
          </a:p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Detailed reminder comparison excludes cancelled appointments.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WHAT THE DATA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What the Data Revealed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No-show rates rose as booking lead time increased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3999448"/>
            <a:ext cx="2137410" cy="1212631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3633688"/>
            <a:ext cx="222885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  <a:latin typeface="Aptos"/>
              </a:defRPr>
            </a:pPr>
            <a:r>
              <a:t>29.47%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5285232"/>
            <a:ext cx="22288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A76"/>
                </a:solidFill>
                <a:latin typeface="Aptos"/>
              </a:defRPr>
            </a:pPr>
            <a:r>
              <a:t>0–7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20489" y="3764081"/>
            <a:ext cx="2137410" cy="14479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74770" y="3398321"/>
            <a:ext cx="222885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  <a:latin typeface="Aptos"/>
              </a:defRPr>
            </a:pPr>
            <a:r>
              <a:t>35.19%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4770" y="5285232"/>
            <a:ext cx="22288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A76"/>
                </a:solidFill>
                <a:latin typeface="Aptos"/>
              </a:defRPr>
            </a:pPr>
            <a:r>
              <a:t>8–14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6500" y="3338611"/>
            <a:ext cx="2137410" cy="18734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0780" y="2972851"/>
            <a:ext cx="222885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  <a:latin typeface="Aptos"/>
              </a:defRPr>
            </a:pPr>
            <a:r>
              <a:t>45.53%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5285232"/>
            <a:ext cx="22288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A76"/>
                </a:solidFill>
                <a:latin typeface="Aptos"/>
              </a:defRPr>
            </a:pPr>
            <a:r>
              <a:t>15–30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52509" y="2580665"/>
            <a:ext cx="2137410" cy="2631414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06789" y="2214905"/>
            <a:ext cx="222885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2D46"/>
                </a:solidFill>
                <a:latin typeface="Aptos"/>
              </a:defRPr>
            </a:pPr>
            <a:r>
              <a:t>63.95%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6789" y="5285232"/>
            <a:ext cx="22288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A76"/>
                </a:solidFill>
                <a:latin typeface="Aptos"/>
              </a:defRPr>
            </a:pPr>
            <a:r>
              <a:t>31–60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5212080"/>
            <a:ext cx="923544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  <a:latin typeface="Aptos"/>
              </a:defRPr>
            </a:pPr>
            <a:r>
              <a:t>Previous no-show history showed a similar upward pattern: 46.30% → 55.87% → 62.05% → 70.33%.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WEEK 7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Week 7 Refinement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Testing moved the analysis from separate patterns to a combined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0040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6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Combined booking lead time + reminder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28800"/>
            <a:ext cx="320040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1828800"/>
            <a:ext cx="64008" cy="132588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6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7860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Values rechecked against 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828800"/>
            <a:ext cx="320040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64008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20116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6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57860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Power BI validation page refined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840480"/>
            <a:ext cx="2011680" cy="7315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023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Week 6 finding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2971800" y="4023360"/>
            <a:ext cx="411480" cy="32004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611880" y="3840480"/>
            <a:ext cx="2011680" cy="7315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20" y="4023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Week 7 test</a:t>
            </a:r>
          </a:p>
        </p:txBody>
      </p:sp>
      <p:sp>
        <p:nvSpPr>
          <p:cNvPr id="25" name="Chevron 24"/>
          <p:cNvSpPr/>
          <p:nvPr/>
        </p:nvSpPr>
        <p:spPr>
          <a:xfrm>
            <a:off x="5715000" y="4023360"/>
            <a:ext cx="411480" cy="32004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55080" y="3840480"/>
            <a:ext cx="2011680" cy="7315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023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Re-check</a:t>
            </a:r>
          </a:p>
        </p:txBody>
      </p:sp>
      <p:sp>
        <p:nvSpPr>
          <p:cNvPr id="28" name="Chevron 27"/>
          <p:cNvSpPr/>
          <p:nvPr/>
        </p:nvSpPr>
        <p:spPr>
          <a:xfrm>
            <a:off x="8458200" y="4023360"/>
            <a:ext cx="411480" cy="32004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98280" y="3840480"/>
            <a:ext cx="2011680" cy="73152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19" y="4023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Validated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COMBINED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Booking Lead Time × Reminder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The lower reminder-associated rate appeared within every lead-time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0–7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4251960"/>
            <a:ext cx="566928" cy="13716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959352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31.25%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4358176"/>
            <a:ext cx="566928" cy="1265383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4065568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28.83%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8–14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3985101"/>
            <a:ext cx="566928" cy="1638458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40" y="3692493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37.33%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4112385"/>
            <a:ext cx="566928" cy="151117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819777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34.43%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15–30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3441289"/>
            <a:ext cx="566928" cy="218227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3148681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49.72%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696297"/>
            <a:ext cx="566928" cy="192726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0" y="3403689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43.91%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6916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D46"/>
                </a:solidFill>
                <a:latin typeface="Aptos"/>
              </a:defRPr>
            </a:pPr>
            <a:r>
              <a:t>31–60 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2655198"/>
            <a:ext cx="566928" cy="2968361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236259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67.63%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2876848"/>
            <a:ext cx="566928" cy="2746711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2584240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303A"/>
                </a:solidFill>
                <a:latin typeface="Aptos"/>
              </a:defRPr>
            </a:pPr>
            <a:r>
              <a:t>62.58%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5897880"/>
            <a:ext cx="146304" cy="146304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58155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A76"/>
                </a:solidFill>
                <a:latin typeface="Aptos"/>
              </a:defRPr>
            </a:pPr>
            <a:r>
              <a:t>No reminder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897880"/>
            <a:ext cx="146304" cy="1463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58155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A76"/>
                </a:solidFill>
                <a:latin typeface="Aptos"/>
              </a:defRPr>
            </a:pPr>
            <a:r>
              <a:t>Reminder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CROSS-TRACK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Data Analytics →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A finding was independently tested before being carried into the final 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6"/>
                </a:solidFill>
                <a:latin typeface="Aptos Display"/>
              </a:defRPr>
            </a:pPr>
            <a:r>
              <a:t>Finding shared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Lead time × reminder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123444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6"/>
                </a:solidFill>
                <a:latin typeface="Aptos Display"/>
              </a:defRPr>
            </a:pPr>
            <a:r>
              <a:t>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7860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Interaction feature + retraining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64008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01168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6"/>
                </a:solidFill>
                <a:latin typeface="Aptos Display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57860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Not adopted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3749039"/>
            <a:ext cx="29260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0" y="3749039"/>
            <a:ext cx="64008" cy="123444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74519" y="393192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92D46"/>
                </a:solidFill>
                <a:latin typeface="Aptos Display"/>
              </a:defRPr>
            </a:pPr>
            <a:r>
              <a:t>0.631 → 0.633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49884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Model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749039"/>
            <a:ext cx="29260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3749039"/>
            <a:ext cx="64008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393192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D46"/>
                </a:solidFill>
                <a:latin typeface="Aptos Display"/>
              </a:defRPr>
            </a:pPr>
            <a:r>
              <a:t>6.1% → 6.1%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49884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Short-lead-time recall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749039"/>
            <a:ext cx="29260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89520" y="3749039"/>
            <a:ext cx="64008" cy="123444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8120" y="393192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6"/>
                </a:solidFill>
                <a:latin typeface="Aptos Display"/>
              </a:defRPr>
            </a:pPr>
            <a:r>
              <a:t>No further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49884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Week 8 confirmation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F6A76"/>
                </a:solidFill>
                <a:latin typeface="Aptos"/>
              </a:defRPr>
            </a:pPr>
            <a:r>
              <a:t>The Week 7 result was therefore carried forward as the final Data Science position for my analytics contribution.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Business Value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How the findings can support HealthConnect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80467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892807"/>
            <a:ext cx="411480" cy="4114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11095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D46"/>
                </a:solidFill>
                <a:latin typeface="Aptos"/>
              </a:defRPr>
            </a:pPr>
            <a:r>
              <a:t>Focus reminder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4708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  <a:latin typeface="Aptos"/>
              </a:defRPr>
            </a:pPr>
            <a:r>
              <a:t>Give more reminder attention to appointments booked well in advance.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61488"/>
            <a:ext cx="10698480" cy="80467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2916936"/>
            <a:ext cx="411480" cy="4114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93522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71216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D46"/>
                </a:solidFill>
                <a:latin typeface="Aptos"/>
              </a:defRPr>
            </a:pPr>
            <a:r>
              <a:t>Prioritise 15+ day bookings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712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  <a:latin typeface="Aptos"/>
              </a:defRPr>
            </a:pPr>
            <a:r>
              <a:t>Consider additional follow-up for appointments booked 15+ days ahead.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85616"/>
            <a:ext cx="10698480" cy="80467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3941064"/>
            <a:ext cx="411480" cy="4114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593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95344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D46"/>
                </a:solidFill>
                <a:latin typeface="Aptos"/>
              </a:defRPr>
            </a:pPr>
            <a:r>
              <a:t>Watch repeat no-shows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95344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  <a:latin typeface="Aptos"/>
              </a:defRPr>
            </a:pPr>
            <a:r>
              <a:t>Pay attention to patients with previous no-show history.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09744"/>
            <a:ext cx="10698480" cy="80467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965192"/>
            <a:ext cx="411480" cy="4114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1947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D46"/>
                </a:solidFill>
                <a:latin typeface="Aptos"/>
              </a:defRPr>
            </a:pPr>
            <a:r>
              <a:t>Keep measuring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91947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A"/>
                </a:solidFill>
                <a:latin typeface="Aptos"/>
              </a:defRPr>
            </a:pPr>
            <a:r>
              <a:t>Monitor no-show patterns after any operational change.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Important context for interpreting the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15600" cy="62179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56231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t>• The analysis shows associations, not causation.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78608"/>
            <a:ext cx="10515600" cy="62179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7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t>• Some detailed no-show comparisons exclude cancelled appointments.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19856"/>
            <a:ext cx="10515600" cy="62179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53872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t>• The 3+ previous no-show group is small.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61104"/>
            <a:ext cx="10515600" cy="62179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79976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t>• Dashboard filter results are scenario checks, not separate population-level KPIs.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02352"/>
            <a:ext cx="10515600" cy="621792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221224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A"/>
                </a:solidFill>
                <a:latin typeface="Aptos"/>
              </a:defRPr>
            </a:pPr>
            <a:r>
              <a:t>• The tested interaction feature did not improve short-lead-time recall and was not adopted.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93" y="5486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ptos"/>
              </a:defRPr>
            </a:pPr>
            <a:r>
              <a:t>FINAL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A7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6"/>
                </a:solidFill>
                <a:latin typeface="Aptos Display"/>
              </a:defRPr>
            </a:pPr>
            <a:r>
              <a:t>How My Work Fits the Final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6187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6"/>
                </a:solidFill>
                <a:latin typeface="Aptos"/>
              </a:defRPr>
            </a:pPr>
            <a:r>
              <a:t>The analytics component provides the evidence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57400"/>
            <a:ext cx="19659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22677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80"/>
                </a:solidFill>
                <a:latin typeface="Aptos"/>
              </a:defRPr>
            </a:pPr>
            <a:r>
              <a:t>Data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303A"/>
                </a:solidFill>
                <a:latin typeface="Aptos"/>
              </a:defRPr>
            </a:pPr>
            <a:r>
              <a:t>Validated no-show patterns</a:t>
            </a:r>
            <a:br/>
            <a:r>
              <a:t>&amp; recommendations</a:t>
            </a:r>
          </a:p>
        </p:txBody>
      </p:sp>
      <p:sp>
        <p:nvSpPr>
          <p:cNvPr id="11" name="Chevron 10"/>
          <p:cNvSpPr/>
          <p:nvPr/>
        </p:nvSpPr>
        <p:spPr>
          <a:xfrm>
            <a:off x="2441448" y="2651760"/>
            <a:ext cx="256032" cy="32004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0" y="2057400"/>
            <a:ext cx="19659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22677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6"/>
                </a:solidFill>
                <a:latin typeface="Aptos"/>
              </a:defRPr>
            </a:pPr>
            <a:r>
              <a:t>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4320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303A"/>
                </a:solidFill>
                <a:latin typeface="Aptos"/>
              </a:defRPr>
            </a:pPr>
            <a:r>
              <a:t>Model interpretation</a:t>
            </a:r>
            <a:br/>
            <a:r>
              <a:t>&amp; testing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4773168" y="2651760"/>
            <a:ext cx="256032" cy="32004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74920" y="2057400"/>
            <a:ext cx="19659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4648" y="22677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80"/>
                </a:solidFill>
                <a:latin typeface="Aptos"/>
              </a:defRPr>
            </a:pPr>
            <a:r>
              <a:t>ML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4320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303A"/>
                </a:solidFill>
                <a:latin typeface="Aptos"/>
              </a:defRPr>
            </a:pPr>
            <a:r>
              <a:t>Technical workflow</a:t>
            </a:r>
            <a:br/>
            <a:r>
              <a:t>&amp; integration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04888" y="2651760"/>
            <a:ext cx="256032" cy="32004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6640" y="2057400"/>
            <a:ext cx="19659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7" y="22677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D46"/>
                </a:solidFill>
                <a:latin typeface="Aptos"/>
              </a:defRPr>
            </a:pPr>
            <a:r>
              <a:t>Generative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74320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303A"/>
                </a:solidFill>
                <a:latin typeface="Aptos"/>
              </a:defRPr>
            </a:pPr>
            <a:r>
              <a:t>Administrative</a:t>
            </a:r>
            <a:br/>
            <a:r>
              <a:t>support</a:t>
            </a:r>
          </a:p>
        </p:txBody>
      </p:sp>
      <p:sp>
        <p:nvSpPr>
          <p:cNvPr id="23" name="Chevron 22"/>
          <p:cNvSpPr/>
          <p:nvPr/>
        </p:nvSpPr>
        <p:spPr>
          <a:xfrm>
            <a:off x="9436608" y="2651760"/>
            <a:ext cx="256032" cy="320040"/>
          </a:xfrm>
          <a:prstGeom prst="chevr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38359" y="2057400"/>
            <a:ext cx="19659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48087" y="22677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80"/>
                </a:solidFill>
                <a:latin typeface="Aptos"/>
              </a:defRPr>
            </a:pPr>
            <a:r>
              <a:t>Project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743200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8303A"/>
                </a:solidFill>
                <a:latin typeface="Aptos"/>
              </a:defRPr>
            </a:pPr>
            <a:r>
              <a:t>Coordination,</a:t>
            </a:r>
            <a:br/>
            <a:r>
              <a:t>readiness &amp;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470071"/>
            <a:ext cx="8842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2D46"/>
                </a:solidFill>
                <a:latin typeface="Aptos Display"/>
              </a:defRPr>
            </a:pPr>
            <a:r>
              <a:rPr sz="2000" dirty="0"/>
              <a:t>My contribution gives the final solution an evidence-based view of where administrative attention may be useful.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574536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  <a:latin typeface="Aptos"/>
              </a:defRPr>
            </a:pPr>
            <a:r>
              <a:t>HealthConnect Clinic Experience Lab  |  Data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92D46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574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8080"/>
                </a:solidFill>
                <a:latin typeface="Aptos"/>
              </a:defRPr>
            </a:pPr>
            <a:r>
              <a:t>Rachel Nuhu Birma  |  Data Analytics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D46"/>
                </a:solidFill>
                <a:latin typeface="Aptos Display"/>
              </a:defRPr>
            </a:pPr>
            <a:r>
              <a:t>HealthConnect Clinic Experience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749039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F6A76"/>
                </a:solidFill>
                <a:latin typeface="Aptos"/>
              </a:defRPr>
            </a:pPr>
            <a:r>
              <a:t>Turning appointment data into validated, usable decision-support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343400"/>
            <a:ext cx="123444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0" y="4343400"/>
            <a:ext cx="64008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452628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6"/>
                </a:solidFill>
                <a:latin typeface="Aptos Display"/>
              </a:defRPr>
            </a:pPr>
            <a:r>
              <a:t>Week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5093208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4343400"/>
            <a:ext cx="1234440" cy="1051560"/>
          </a:xfrm>
          <a:prstGeom prst="roundRect">
            <a:avLst/>
          </a:prstGeom>
          <a:solidFill>
            <a:srgbClr val="F6F8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87000" y="4343400"/>
            <a:ext cx="64008" cy="105156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0" y="4526280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6"/>
                </a:solidFill>
                <a:latin typeface="Aptos Display"/>
              </a:defRPr>
            </a:pPr>
            <a:r>
              <a:t>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5093208"/>
            <a:ext cx="868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A76"/>
                </a:solidFill>
                <a:latin typeface="Aptos"/>
              </a:defRPr>
            </a:pPr>
            <a:r>
              <a:t>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729</Words>
  <Application>Microsoft Office PowerPoint</Application>
  <PresentationFormat>Widescreen</PresentationFormat>
  <Paragraphs>170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FRONT DESK</dc:creator>
  <cp:keywords/>
  <dc:description>generated using python-pptx</dc:description>
  <cp:lastModifiedBy>Rachel Nuhu Birma</cp:lastModifiedBy>
  <cp:revision>2</cp:revision>
  <dcterms:created xsi:type="dcterms:W3CDTF">2013-01-27T09:14:16Z</dcterms:created>
  <dcterms:modified xsi:type="dcterms:W3CDTF">2026-10-05T13:41:04Z</dcterms:modified>
  <cp:category/>
</cp:coreProperties>
</file>